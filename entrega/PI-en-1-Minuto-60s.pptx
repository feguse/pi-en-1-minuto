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[0-7 s] PI en 1 Minuto convierte una explicación cotidiana en una ruta inicial de propiedad industrial.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[7-20 s] Quien acaba de crear algo rara vez sabe si le corresponde una marca, una patente o un diseño industrial. Y equivocarse cuesta: divulgar una invención antes de solicitarla puede destruir su novedad.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[20-35 s] La persona describe en sus palabras qué creó y qué le interesa proteger. La aplicación clasifica el caso en una de cinco figuras y devuelve una ruta preliminar.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[35-50 s] El resultado señala qué elementos podrían protegerse, tres siguientes pasos, figuras complementarias y, sobre todo, las advertencias y la información que falta. Cada respuesta trae su nivel de confianza.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[50-60 s] Está en línea, sin registro ni base de datos. Es orientación informativa: no sustituye una búsqueda profesional ni garantiza que algo sea registrable.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-en-1-minut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1874519"/>
            <a:ext cx="5943600" cy="1981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3886200"/>
            <a:ext cx="92628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002850"/>
                </a:solidFill>
                <a:latin typeface="Calibri"/>
              </a:rPr>
              <a:t>Descubre una ruta inicial para proteger tu idea en México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89204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2666D"/>
                </a:solidFill>
                <a:latin typeface="Calibri"/>
              </a:rPr>
              <a:t>Orientación preliminar de propiedad industrial · Hackatón legal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D83"/>
                </a:solidFill>
                <a:latin typeface="Calibri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2850"/>
                </a:solidFill>
                <a:latin typeface="Calibri"/>
              </a:rPr>
              <a:t>Quien acaba de crear algo no sabe por dónde empezar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0604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143000" y="2880360"/>
            <a:ext cx="502920" cy="502920"/>
          </a:xfrm>
          <a:prstGeom prst="ellipse">
            <a:avLst/>
          </a:prstGeom>
          <a:solidFill>
            <a:srgbClr val="00A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28254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2850"/>
                </a:solidFill>
                <a:latin typeface="Calibri"/>
              </a:rPr>
              <a:t>¿Marca, patente o diseño?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3200400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2666D"/>
                </a:solidFill>
                <a:latin typeface="Calibri"/>
              </a:rPr>
              <a:t>Los nombres de las figuras no dicen nada a quien no es abogado.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88620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43000" y="4160520"/>
            <a:ext cx="502920" cy="502920"/>
          </a:xfrm>
          <a:prstGeom prst="ellipse">
            <a:avLst/>
          </a:prstGeom>
          <a:solidFill>
            <a:srgbClr val="00A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410565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2850"/>
                </a:solidFill>
                <a:latin typeface="Calibri"/>
              </a:rPr>
              <a:t>Equivocarse cuesta caro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4480560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2666D"/>
                </a:solidFill>
                <a:latin typeface="Calibri"/>
              </a:rPr>
              <a:t>Divulgar una invención antes de solicitarla puede destruir su novedad.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16636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43000" y="5440680"/>
            <a:ext cx="502920" cy="502920"/>
          </a:xfrm>
          <a:prstGeom prst="ellipse">
            <a:avLst/>
          </a:prstGeom>
          <a:solidFill>
            <a:srgbClr val="00A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538581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2850"/>
                </a:solidFill>
                <a:latin typeface="Calibri"/>
              </a:rPr>
              <a:t>La primera consulta no siempre ocurre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5760720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2666D"/>
                </a:solidFill>
                <a:latin typeface="Calibri"/>
              </a:rPr>
              <a:t>Muchos proyectos llegan al mercado sin haber revisado nada.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D83"/>
                </a:solidFill>
                <a:latin typeface="Calibri"/>
              </a:rPr>
              <a:t>Cómo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2850"/>
                </a:solidFill>
                <a:latin typeface="Calibri"/>
              </a:rPr>
              <a:t>De una frase cotidiana a una ruta concreta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06040"/>
            <a:ext cx="333756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188720" y="2971800"/>
            <a:ext cx="548640" cy="548640"/>
          </a:xfrm>
          <a:prstGeom prst="ellipse">
            <a:avLst/>
          </a:prstGeom>
          <a:solidFill>
            <a:srgbClr val="00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947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02850"/>
                </a:solidFill>
                <a:latin typeface="Calibri"/>
              </a:rPr>
              <a:t>Describe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29768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666D"/>
                </a:solidFill>
                <a:latin typeface="Calibri"/>
              </a:rPr>
              <a:t>La persona cuenta con sus palabras qué creó y qué le interesa proteger.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13892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7D83"/>
                </a:solidFill>
                <a:latin typeface="Calibri"/>
              </a:rPr>
              <a:t>Sin términos legales, sin formularios.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606040"/>
            <a:ext cx="333756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782312" y="2971800"/>
            <a:ext cx="548640" cy="548640"/>
          </a:xfrm>
          <a:prstGeom prst="ellipse">
            <a:avLst/>
          </a:prstGeom>
          <a:solidFill>
            <a:srgbClr val="00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37947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02850"/>
                </a:solidFill>
                <a:latin typeface="Calibri"/>
              </a:rPr>
              <a:t>Clasifica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429768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666D"/>
                </a:solidFill>
                <a:latin typeface="Calibri"/>
              </a:rPr>
              <a:t>El análisis ubica el caso en una de cinco figuras de propiedad industrial.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513892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7D83"/>
                </a:solidFill>
                <a:latin typeface="Calibri"/>
              </a:rPr>
              <a:t>Marca · Patente · Diseño · Secreto · Combinación.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606040"/>
            <a:ext cx="333756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75904" y="2971800"/>
            <a:ext cx="548640" cy="548640"/>
          </a:xfrm>
          <a:prstGeom prst="ellipse">
            <a:avLst/>
          </a:prstGeom>
          <a:solidFill>
            <a:srgbClr val="00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37947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02850"/>
                </a:solidFill>
                <a:latin typeface="Calibri"/>
              </a:rPr>
              <a:t>Orienta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429768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666D"/>
                </a:solidFill>
                <a:latin typeface="Calibri"/>
              </a:rPr>
              <a:t>Devuelve la ruta preliminar con pasos concretos y lo que falta por revisar.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513892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7D83"/>
                </a:solidFill>
                <a:latin typeface="Calibri"/>
              </a:rPr>
              <a:t>Con enlaces directos a MARCia, ClasNiza y el IMPI.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D83"/>
                </a:solidFill>
                <a:latin typeface="Calibri"/>
              </a:rPr>
              <a:t>El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02850"/>
                </a:solidFill>
                <a:latin typeface="Calibri"/>
              </a:rPr>
              <a:t>Ejemplo real: un mecanismo para bicicleta plegable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515600" cy="1920240"/>
          </a:xfrm>
          <a:prstGeom prst="roundRect">
            <a:avLst>
              <a:gd name="adj" fmla="val 6000"/>
            </a:avLst>
          </a:prstGeom>
          <a:solidFill>
            <a:srgbClr val="DD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64008" cy="1920240"/>
          </a:xfrm>
          <a:prstGeom prst="rect">
            <a:avLst/>
          </a:prstGeom>
          <a:solidFill>
            <a:srgbClr val="F86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084831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7D83"/>
                </a:solidFill>
                <a:latin typeface="Calibri"/>
              </a:rPr>
              <a:t>Ruta preliminar sugerida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42316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2850"/>
                </a:solidFill>
                <a:latin typeface="Calibri"/>
              </a:rPr>
              <a:t>Patente o, en su caso, modelo de utilidad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1752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666D"/>
                </a:solidFill>
                <a:latin typeface="Calibri"/>
              </a:rPr>
              <a:t>Describes una solución técnica: un mecanismo que funciona de una manera nueva. Ambas figuras exigen no divulgar la invención antes de presentar la solicitud.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205740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235440" y="21671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02850"/>
                </a:solidFill>
                <a:latin typeface="Calibri"/>
              </a:rPr>
              <a:t>Confianza alta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77639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15568" y="4224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2850"/>
                </a:solidFill>
                <a:latin typeface="Calibri"/>
              </a:rPr>
              <a:t>Qué podrías proteger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61772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52666D"/>
                </a:solidFill>
                <a:latin typeface="Calibri"/>
              </a:rPr>
              <a:t>•  El mecanismo y su forma de funcionar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2666D"/>
                </a:solidFill>
                <a:latin typeface="Calibri"/>
              </a:rPr>
              <a:t>•  La disposición de las piezas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2666D"/>
                </a:solidFill>
                <a:latin typeface="Calibri"/>
              </a:rPr>
              <a:t>•  El proceso de fabricación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3977639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9160" y="4224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2850"/>
                </a:solidFill>
                <a:latin typeface="Calibri"/>
              </a:rPr>
              <a:t>Siguientes pasos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61772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52666D"/>
                </a:solidFill>
                <a:latin typeface="Calibri"/>
              </a:rPr>
              <a:t>•  Documenta la invención antes de mostrarla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2666D"/>
                </a:solidFill>
                <a:latin typeface="Calibri"/>
              </a:rPr>
              <a:t>•  Encarga una búsqueda del estado de la técnica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2666D"/>
                </a:solidFill>
                <a:latin typeface="Calibri"/>
              </a:rPr>
              <a:t>•  Firma convenios de confidencialidad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3977639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02752" y="4224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2850"/>
                </a:solidFill>
                <a:latin typeface="Calibri"/>
              </a:rPr>
              <a:t>Advertencias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461772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52666D"/>
                </a:solidFill>
                <a:latin typeface="Calibri"/>
              </a:rPr>
              <a:t>•  Divulgarla puede destruir la novedad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2666D"/>
                </a:solidFill>
                <a:latin typeface="Calibri"/>
              </a:rPr>
              <a:t>•  No se conoce el estado de la técnica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52666D"/>
                </a:solidFill>
                <a:latin typeface="Calibri"/>
              </a:rPr>
              <a:t>•  Falta definir territorios y plazos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1874519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0A8B0"/>
                </a:solidFill>
                <a:latin typeface="Calibri"/>
              </a:rPr>
              <a:t>Ya está en línea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pi-en-1-minuto.vercel.app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3429000"/>
            <a:ext cx="7799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DDF6F5"/>
                </a:solidFill>
                <a:latin typeface="Calibri"/>
              </a:rPr>
              <a:t>Sin registro · Sin base de datos · Sin carga de archivos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4206240"/>
            <a:ext cx="7799831" cy="1143000"/>
          </a:xfrm>
          <a:prstGeom prst="roundRect">
            <a:avLst>
              <a:gd name="adj" fmla="val 6000"/>
            </a:avLst>
          </a:prstGeom>
          <a:solidFill>
            <a:srgbClr val="00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2606040" y="4462272"/>
            <a:ext cx="6976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DDF6F5"/>
                </a:solidFill>
                <a:latin typeface="Calibri"/>
              </a:rPr>
              <a:t>Esta orientación es informativa, no constituye asesoría jurídica, no garantiza que la creación sea registrable y no reemplaza una búsqueda profesional.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